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E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874520"/>
            <a:ext cx="11183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executivo de resposta a fraudes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você aciona — não contrata.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3794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de telefone. Qualquer dia, qualquer hora. </a:t>
            </a:r>
            <a:pPr indent="0" marL="0">
              <a:buNone/>
            </a:pPr>
            <a:r>
              <a:rPr lang="en-US" sz="1900" b="1" i="1" dirty="0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72 horas, o incidente vira um caso sob controle — com prova, prazos cumpridos e defesa montada.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fintechs, instituições de pagamento e BaaS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8368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Material técnico-informativo (Prov. OAB 205/2021) · Apresentação para validação de conceito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fraude acontece, ninguém é o dono dela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madrugada. O dinheiro está sendo pulverizado em contas-laranja. E na sua empresa…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614416" cy="1024128"/>
          </a:xfrm>
          <a:prstGeom prst="roundRect">
            <a:avLst>
              <a:gd name="adj" fmla="val 7143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5248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jurídico: </a:t>
            </a:r>
            <a:pPr indent="0" marL="0"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"vemos isso amanhã de manhã" — e a janela de bloqueio fecha em minutos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0216" y="1463040"/>
            <a:ext cx="5614416" cy="1024128"/>
          </a:xfrm>
          <a:prstGeom prst="roundRect">
            <a:avLst>
              <a:gd name="adj" fmla="val 7143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83096" y="1554480"/>
            <a:ext cx="5248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TI: </a:t>
            </a:r>
            <a:pPr indent="0" marL="0"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 um fornecedor de forense sem preservar a cadeia de custódia da prova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633472"/>
            <a:ext cx="5614416" cy="1024128"/>
          </a:xfrm>
          <a:prstGeom prst="roundRect">
            <a:avLst>
              <a:gd name="adj" fmla="val 7143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724912"/>
            <a:ext cx="5248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compliance: </a:t>
            </a:r>
            <a:pPr indent="0" marL="0"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depois que o prazo da ANPD já estava correndo desde a madrugada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0216" y="2633472"/>
            <a:ext cx="5614416" cy="1024128"/>
          </a:xfrm>
          <a:prstGeom prst="roundRect">
            <a:avLst>
              <a:gd name="adj" fmla="val 7143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83096" y="2724912"/>
            <a:ext cx="5248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CEO: </a:t>
            </a:r>
            <a:pPr indent="0" marL="0"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ao conselho sem saber quem comanda, o que foi feito e o que prescreve hoje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11183112" cy="960120"/>
          </a:xfrm>
          <a:prstGeom prst="roundRect">
            <a:avLst>
              <a:gd name="adj" fmla="val 7619"/>
            </a:avLst>
          </a:prstGeom>
          <a:solidFill>
            <a:srgbClr val="153E4B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087368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isso, os relógios regulatórios não esperam:  </a:t>
            </a:r>
            <a:pPr indent="0" marL="0">
              <a:buNone/>
            </a:pPr>
            <a:r>
              <a:rPr lang="en-US" sz="1450" dirty="0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para abrir o MED · bloqueios imediatos na cadeia · 3 dias úteis para a ANPD · 72h que definem quanto volta e quanto vira processo.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02920" y="516636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Realidade recente do setor: C&amp;M (jul/25, perdas de R$ 400 mi a R$ 1 bi segundo Valor e Exame), Sinqia (ago/25, R$ 710 mi segundo InfoMoney), BTG (mar/26, ~R$ 100 mi segundo Agência Brasil).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658368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Material técnico-informativo (Prov. OAB 205/2021) · Apresentação para validação de conceito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produto: seu C-level de fraudes, de plantão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2734056" cy="1600200"/>
          </a:xfrm>
          <a:prstGeom prst="roundRect">
            <a:avLst>
              <a:gd name="adj" fmla="val 4571"/>
            </a:avLst>
          </a:prstGeom>
          <a:solidFill>
            <a:srgbClr val="153E4B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67512" y="1188720"/>
            <a:ext cx="365760" cy="365760"/>
          </a:xfrm>
          <a:prstGeom prst="ellipse">
            <a:avLst/>
          </a:prstGeom>
          <a:solidFill>
            <a:srgbClr val="E872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271016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24" y="1188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Você liga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7512" y="162763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direta 24/7 com o coordenador — não é um 0800, é o executivo do caso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19856" y="1051560"/>
            <a:ext cx="2734056" cy="1600200"/>
          </a:xfrm>
          <a:prstGeom prst="roundRect">
            <a:avLst>
              <a:gd name="adj" fmla="val 4571"/>
            </a:avLst>
          </a:prstGeom>
          <a:solidFill>
            <a:srgbClr val="153E4B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84448" y="1188720"/>
            <a:ext cx="365760" cy="365760"/>
          </a:xfrm>
          <a:prstGeom prst="ellipse">
            <a:avLst/>
          </a:prstGeom>
          <a:solidFill>
            <a:srgbClr val="E8722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127101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23360" y="1188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War room em minutos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584448" y="162763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único instalado: papéis, decisões e registro de cada minuto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36792" y="1051560"/>
            <a:ext cx="2734056" cy="1600200"/>
          </a:xfrm>
          <a:prstGeom prst="roundRect">
            <a:avLst>
              <a:gd name="adj" fmla="val 4571"/>
            </a:avLst>
          </a:prstGeom>
          <a:solidFill>
            <a:srgbClr val="153E4B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01384" y="1188720"/>
            <a:ext cx="365760" cy="365760"/>
          </a:xfrm>
          <a:prstGeom prst="ellipse">
            <a:avLst/>
          </a:prstGeom>
          <a:solidFill>
            <a:srgbClr val="E8722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27101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0296" y="1188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72 horas de protocolo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501384" y="162763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frentes em paralelo, cada uma com dono e prazo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253728" y="1051560"/>
            <a:ext cx="2734056" cy="1600200"/>
          </a:xfrm>
          <a:prstGeom prst="roundRect">
            <a:avLst>
              <a:gd name="adj" fmla="val 4571"/>
            </a:avLst>
          </a:prstGeom>
          <a:solidFill>
            <a:srgbClr val="153E4B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418320" y="1188720"/>
            <a:ext cx="365760" cy="365760"/>
          </a:xfrm>
          <a:prstGeom prst="ellipse">
            <a:avLst/>
          </a:prstGeom>
          <a:solidFill>
            <a:srgbClr val="E8722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1271016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57232" y="1188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D+3: caso sob controle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418320" y="162763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contido, prazos cumpridos, dossiê probatório pronto para a defesa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02920" y="285292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FRENTES DO WAR ROOM — TODAS SOB UM COMANDO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2920" y="3154680"/>
            <a:ext cx="3785616" cy="1225296"/>
          </a:xfrm>
          <a:prstGeom prst="roundRect">
            <a:avLst>
              <a:gd name="adj" fmla="val 5970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300984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33272" y="3246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Dinheiro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67512" y="36301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2.0: rastreio e bloqueio na cadeia de contas, no ritmo dos manuais do BCB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471416" y="3154680"/>
            <a:ext cx="3785616" cy="1225296"/>
          </a:xfrm>
          <a:prstGeom prst="roundRect">
            <a:avLst>
              <a:gd name="adj" fmla="val 5970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008" y="3300984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001768" y="3246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Reguladores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636008" y="36301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 e ANPD nos prazos, com decisões fundamentadas por escrito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8439912" y="3154680"/>
            <a:ext cx="3785616" cy="1225296"/>
          </a:xfrm>
          <a:prstGeom prst="roundRect">
            <a:avLst>
              <a:gd name="adj" fmla="val 5970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504" y="3300984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970264" y="3246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8604504" y="36301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custódia desde a 1ª hora — a defesa de amanhã se fabrica hoje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502920" y="4526280"/>
            <a:ext cx="3785616" cy="1225296"/>
          </a:xfrm>
          <a:prstGeom prst="roundRect">
            <a:avLst>
              <a:gd name="adj" fmla="val 5970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" y="4672584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033272" y="4617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</a:t>
            </a:r>
            <a:endParaRPr lang="en-US" sz="1350" dirty="0"/>
          </a:p>
        </p:txBody>
      </p:sp>
      <p:sp>
        <p:nvSpPr>
          <p:cNvPr id="39" name="Text 29"/>
          <p:cNvSpPr/>
          <p:nvPr/>
        </p:nvSpPr>
        <p:spPr>
          <a:xfrm>
            <a:off x="667512" y="50017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Forense digital e DFIR: hackers éticos certificados para conter e periciar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4471416" y="4526280"/>
            <a:ext cx="3785616" cy="1225296"/>
          </a:xfrm>
          <a:prstGeom prst="roundRect">
            <a:avLst>
              <a:gd name="adj" fmla="val 5970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6008" y="4672584"/>
            <a:ext cx="274320" cy="27432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001768" y="4617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Justiça</a:t>
            </a:r>
            <a:endParaRPr lang="en-US" sz="1350" dirty="0"/>
          </a:p>
        </p:txBody>
      </p:sp>
      <p:sp>
        <p:nvSpPr>
          <p:cNvPr id="43" name="Text 32"/>
          <p:cNvSpPr/>
          <p:nvPr/>
        </p:nvSpPr>
        <p:spPr>
          <a:xfrm>
            <a:off x="4636008" y="50017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urgentes de bloqueio, frente criminal com a PF, regresso e seguros</a:t>
            </a:r>
            <a:endParaRPr lang="en-US" sz="1050" dirty="0"/>
          </a:p>
        </p:txBody>
      </p:sp>
      <p:sp>
        <p:nvSpPr>
          <p:cNvPr id="44" name="Shape 33"/>
          <p:cNvSpPr/>
          <p:nvPr/>
        </p:nvSpPr>
        <p:spPr>
          <a:xfrm>
            <a:off x="8439912" y="4526280"/>
            <a:ext cx="3785616" cy="1225296"/>
          </a:xfrm>
          <a:prstGeom prst="roundRect">
            <a:avLst>
              <a:gd name="adj" fmla="val 5970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04504" y="4672584"/>
            <a:ext cx="274320" cy="27432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8970264" y="4617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Narrativa</a:t>
            </a:r>
            <a:endParaRPr lang="en-US" sz="1350" dirty="0"/>
          </a:p>
        </p:txBody>
      </p:sp>
      <p:sp>
        <p:nvSpPr>
          <p:cNvPr id="47" name="Text 35"/>
          <p:cNvSpPr/>
          <p:nvPr/>
        </p:nvSpPr>
        <p:spPr>
          <a:xfrm>
            <a:off x="8604504" y="50017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só versão para conselho, clientes, imprensa e reguladores</a:t>
            </a:r>
            <a:endParaRPr lang="en-US" sz="1050" dirty="0"/>
          </a:p>
        </p:txBody>
      </p:sp>
      <p:sp>
        <p:nvSpPr>
          <p:cNvPr id="48" name="Text 36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 pela banca integrada: contencioso estratégico, penal empresarial, LGPD, recuperação de ativos e segurança de IA — sob a coordenação de um único responsável.</a:t>
            </a:r>
            <a:endParaRPr lang="en-US" sz="1200" dirty="0"/>
          </a:p>
        </p:txBody>
      </p:sp>
      <p:sp>
        <p:nvSpPr>
          <p:cNvPr id="49" name="Text 37"/>
          <p:cNvSpPr/>
          <p:nvPr/>
        </p:nvSpPr>
        <p:spPr>
          <a:xfrm>
            <a:off x="502920" y="658368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Material técnico-informativo (Prov. OAB 205/2021) · Apresentação para validação de conceito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contrata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785616" cy="3749040"/>
          </a:xfrm>
          <a:prstGeom prst="roundRect">
            <a:avLst>
              <a:gd name="adj" fmla="val 2439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088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· Prontidão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" y="19659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prontidão (metodologia proprietária)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de incidente assinado pela diretoria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 de mesa com seu time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 aos prazos BCB/ANPD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04088" y="4343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Projeto, honorário fixo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71416" y="1188720"/>
            <a:ext cx="3785616" cy="3749040"/>
          </a:xfrm>
          <a:prstGeom prst="roundRect">
            <a:avLst>
              <a:gd name="adj" fmla="val 2439"/>
            </a:avLst>
          </a:prstGeom>
          <a:solidFill>
            <a:srgbClr val="153E4B"/>
          </a:solidFill>
          <a:ln w="25400">
            <a:solidFill>
              <a:srgbClr val="E87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2584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SEMPRE · O plantão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72584" y="19659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direta 24/7 com o seu C-level de fraudes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vivo e atualizado a cada norma nova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acionamento do war room incluído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anual com simulado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72584" y="4343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5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mensal — é o produto central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39912" y="1188720"/>
            <a:ext cx="3785616" cy="3749040"/>
          </a:xfrm>
          <a:prstGeom prst="roundRect">
            <a:avLst>
              <a:gd name="adj" fmla="val 2439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4108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· Recuperação &amp; defesa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41080" y="19659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Persecução dos valores e ativos da cadeia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da onda de processos com o dossiê construído nas 72h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litigância predatória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41080" y="4343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caso / êxito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52578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uma banca, e não uma consultoria? </a:t>
            </a:r>
            <a:pPr indent="0" marL="0">
              <a:buNone/>
            </a:pPr>
            <a:r>
              <a:rPr lang="en-US" sz="14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fim do incidente é sempre jurídico: regulador, processos, seguro, recuperação. Quem comanda a resposta precisa ser quem vai defendê-la.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58368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Material técnico-informativo (Prov. OAB 205/2021) · Apresentação para validação de conceito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Queremos a sua leitura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conversa não é uma venda — é a validação do desenho do produto com quem sente o problema.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64208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 uma fraude relevante acontecesse hoje, às 3h da manhã, quem a sua empresa aciona primeiro — e quem comanda?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532888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 que nesse desenho resolveria uma dor real sua? O que falta?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3337560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401568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 plantão (retainer) faz sentido como produto central, ou você contrataria só o war room quando o incidente ocorrer?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4206240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10353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270248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Quanto valem, para o seu negócio, as primeiras 72 horas bem executadas?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25780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153E4B"/>
          </a:solidFill>
          <a:ln w="19050">
            <a:solidFill>
              <a:srgbClr val="E872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5349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a base técnica por trás do método:  </a:t>
            </a:r>
            <a:pPr indent="0" marL="0">
              <a:buNone/>
            </a:pPr>
            <a:r>
              <a:rPr lang="en-US" sz="1400" b="1" dirty="0">
                <a:solidFill>
                  <a:srgbClr val="E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rivellione.github.io/rastro-vitrine-x9k4</a:t>
            </a:r>
            <a:pPr indent="0" marL="0">
              <a:buNone/>
            </a:pPr>
            <a:r>
              <a:rPr lang="en-US" sz="1100" dirty="0">
                <a:solidFill>
                  <a:srgbClr val="8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(normas verificadas na fonte primária, prazos consolidados, fluxo das 72h)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58368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· Material técnico-informativo (Prov. OAB 205/2021) · Apresentação para validação de conceito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RASTRO — Resposta a Fraudes 72h</dc:title>
  <dc:subject>PptxGenJS Presentation</dc:subject>
  <dc:creator>Fabio Rivelli</dc:creator>
  <cp:lastModifiedBy>Fabio Rivelli</cp:lastModifiedBy>
  <cp:revision>1</cp:revision>
  <dcterms:created xsi:type="dcterms:W3CDTF">2026-07-22T17:44:08Z</dcterms:created>
  <dcterms:modified xsi:type="dcterms:W3CDTF">2026-07-22T17:44:08Z</dcterms:modified>
</cp:coreProperties>
</file>