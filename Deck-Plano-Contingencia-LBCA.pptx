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910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502920"/>
            <a:ext cx="22860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155448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600" kern="0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RASTRO</a:t>
            </a:r>
            <a:endParaRPr lang="en-US" sz="2000" dirty="0"/>
          </a:p>
        </p:txBody>
      </p:sp>
      <p:sp>
        <p:nvSpPr>
          <p:cNvPr id="4" name="Text 1"/>
          <p:cNvSpPr/>
          <p:nvPr/>
        </p:nvSpPr>
        <p:spPr>
          <a:xfrm>
            <a:off x="502920" y="2011680"/>
            <a:ext cx="111831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Contingência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02920" y="2971800"/>
            <a:ext cx="1118311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que a norma já exige de você —</a:t>
            </a:r>
            <a:endParaRPr lang="en-US" sz="2600" dirty="0"/>
          </a:p>
          <a:p>
            <a:pPr indent="0" marL="0">
              <a:lnSpc>
                <a:spcPts val="3400"/>
              </a:lnSpc>
              <a:buNone/>
            </a:pPr>
            <a:r>
              <a:rPr lang="en-US" sz="26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escrito por quem vai defender você depois.</a:t>
            </a:r>
            <a:endParaRPr lang="en-US" sz="2600" dirty="0"/>
          </a:p>
        </p:txBody>
      </p:sp>
      <p:sp>
        <p:nvSpPr>
          <p:cNvPr id="6" name="Text 3"/>
          <p:cNvSpPr/>
          <p:nvPr/>
        </p:nvSpPr>
        <p:spPr>
          <a:xfrm>
            <a:off x="502920" y="43434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· diagnóstico de lacunas · cenários aplicáveis · medidas por prazo. </a:t>
            </a:r>
            <a:pPr indent="0" marL="0">
              <a:buNone/>
            </a:pPr>
            <a:r>
              <a:rPr lang="en-US" sz="1700" b="1" i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war room não é o produto: é a cláusula de ativação.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502920" y="52120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instituições de pagamento, SCD, SEP, BaaS, PSTI e prestadoras de serviços de ativos virtuais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risco saiu do caso comum e foi para a exceção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tese de defesa já resolve o golpe padrão. O que condena hoje é a falha própria da instituição.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4173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13232" y="1536192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a defesa afasta
</a:t>
            </a:r>
            <a:pPr indent="0" marL="0">
              <a:buNone/>
            </a:pPr>
            <a:r>
              <a:rPr lang="en-US" sz="12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Fraude praticada por terceiro fora do ambiente da instituição: fortuito externo e culpa exclusiva de terceiro (CDC, art. 14, §3º). O STJ distingue essa hipótese da falha própria.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245352" y="1417320"/>
            <a:ext cx="5440680" cy="1371600"/>
          </a:xfrm>
          <a:prstGeom prst="roundRect">
            <a:avLst>
              <a:gd name="adj" fmla="val 5333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455664" y="1536192"/>
            <a:ext cx="502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sobra — e condena
</a:t>
            </a:r>
            <a:pPr indent="0" marL="0">
              <a:buNone/>
            </a:pPr>
            <a:r>
              <a:rPr lang="en-US" sz="12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lacuna operacional. Toda condenação relevante aponta para um controle que a instituição deveria ter e não tinha.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02920" y="2971800"/>
            <a:ext cx="10972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PRECEDENTES QUE CONDENAM SÃO SEMPRE DE FALHA AUTÔNOMA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02920" y="3291840"/>
            <a:ext cx="2658618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649224" y="3364992"/>
            <a:ext cx="23660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Transação atípica não bloqueada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1.995.458/SP · 3ª T · 9/8/2022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344418" y="3291840"/>
            <a:ext cx="2658618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3490722" y="3364992"/>
            <a:ext cx="23660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Falha de detecção fora do perfil — alcança as IPs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2.222.059/SP e 2.229.519/DF · 3ª T · 7/10/2025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85916" y="3291840"/>
            <a:ext cx="2658618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6332220" y="3364992"/>
            <a:ext cx="23660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Vazamento no próprio ambiente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2.077.278/SP · 3ª T · 3/10/2023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027414" y="3291840"/>
            <a:ext cx="2658618" cy="1051560"/>
          </a:xfrm>
          <a:prstGeom prst="roundRect">
            <a:avLst>
              <a:gd name="adj" fmla="val 6957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9173718" y="3364992"/>
            <a:ext cx="236601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Havendo falha, resposta integral: vítima induzida não assume risco
</a:t>
            </a:r>
            <a:pPr indent="0" marL="0">
              <a:buNone/>
            </a:pPr>
            <a:r>
              <a:rPr lang="en-US" sz="950" i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 2.220.333/DF · 3ª T · 7/10/2025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502920" y="4434840"/>
            <a:ext cx="111831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polo oposto: </a:t>
            </a:r>
            <a:pPr indent="0" marL="0">
              <a:buNone/>
            </a:pPr>
            <a:r>
              <a:rPr lang="en-US" sz="11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prestador que apenas hospeda a conta usada no golpe só responde se demonstrada falta de diligência na abertura ou manutenção (REsp 2.124.423, 3ª Turma, 27/1/2025) — a diligência documentada é a própria defesa.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02920" y="4846320"/>
            <a:ext cx="11183112" cy="914400"/>
          </a:xfrm>
          <a:prstGeom prst="roundRect">
            <a:avLst>
              <a:gd name="adj" fmla="val 8000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777240" y="4919472"/>
            <a:ext cx="106070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plano não é opcional: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Res. BCB 85/2021, arts. 6º a 10 — plano de resposta a incidentes documentado, aprovado pelo conselho ou pela diretoria, revisado no mínimo anualmente, com diretor responsável nomeado. Quem não tem plano descumpre a norma antes de qualquer fraude acontecer.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502920" y="5897880"/>
            <a:ext cx="111831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Realidade recente do setor, toda ela com origem na cadeia de fornecedores de tecnologia: C&amp;M (jul/25, estimativas de R$ 541 mi a R$ 1 bi, sem número oficial consolidado), Sinqia (ago/25, R$ 710 mi movimentados e cerca de R$ 366 mi bloqueados pelo BCB), BTG (mar/26, cerca de R$ 100 mi, vetor ainda sob apuração).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produto: seis fases, uma entrega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que a sua operação faz de fato até o plano assinado, vivo e acionável.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685800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18488"/>
            <a:ext cx="219456" cy="219456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161288" y="15361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Mapeamento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685800" y="19933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Tipo regulatório, produtos, fluxos de pagamento, fornecedores críticos, quem acessa a RSFN, perfil transacional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4291584" y="13716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474464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6760" y="1618488"/>
            <a:ext cx="219456" cy="219456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949952" y="15361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Diagnóstico de GAPs</a:t>
            </a:r>
            <a:endParaRPr lang="en-US" sz="1400" dirty="0"/>
          </a:p>
        </p:txBody>
      </p:sp>
      <p:sp>
        <p:nvSpPr>
          <p:cNvPr id="14" name="Text 9"/>
          <p:cNvSpPr/>
          <p:nvPr/>
        </p:nvSpPr>
        <p:spPr>
          <a:xfrm>
            <a:off x="4474464" y="19933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desenho atual produz passivo. Oito eixos, cada um com pergunta objetiva e evidência exigida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8080248" y="13716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8263128" y="15361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45424" y="1618488"/>
            <a:ext cx="219456" cy="219456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738616" y="15361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· Cenários aplicáveis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8263128" y="19933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 aplica ao seu tipo — e o que não se aplica. Isso reduz o plano ao executável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02920" y="32004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85800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8096" y="3447288"/>
            <a:ext cx="219456" cy="219456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161288" y="33649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· Desenho por cenário</a:t>
            </a:r>
            <a:endParaRPr lang="en-US" sz="1400" dirty="0"/>
          </a:p>
        </p:txBody>
      </p:sp>
      <p:sp>
        <p:nvSpPr>
          <p:cNvPr id="24" name="Text 17"/>
          <p:cNvSpPr/>
          <p:nvPr/>
        </p:nvSpPr>
        <p:spPr>
          <a:xfrm>
            <a:off x="685800" y="38221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decide, quem executa, o que se faz em cada janela, que prova se preserva, quem comunica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4291584" y="32004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Shape 19"/>
          <p:cNvSpPr/>
          <p:nvPr/>
        </p:nvSpPr>
        <p:spPr>
          <a:xfrm>
            <a:off x="4474464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2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56760" y="3447288"/>
            <a:ext cx="219456" cy="219456"/>
          </a:xfrm>
          <a:prstGeom prst="rect">
            <a:avLst/>
          </a:prstGeom>
        </p:spPr>
      </p:pic>
      <p:sp>
        <p:nvSpPr>
          <p:cNvPr id="28" name="Text 20"/>
          <p:cNvSpPr/>
          <p:nvPr/>
        </p:nvSpPr>
        <p:spPr>
          <a:xfrm>
            <a:off x="4949952" y="33649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· Medidas por prazo</a:t>
            </a:r>
            <a:endParaRPr lang="en-US" sz="1400" dirty="0"/>
          </a:p>
        </p:txBody>
      </p:sp>
      <p:sp>
        <p:nvSpPr>
          <p:cNvPr id="29" name="Text 21"/>
          <p:cNvSpPr/>
          <p:nvPr/>
        </p:nvSpPr>
        <p:spPr>
          <a:xfrm>
            <a:off x="4474464" y="38221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 e longo: o que resolve com procedimento e o que só resolve com investimento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8080248" y="3200400"/>
            <a:ext cx="3605784" cy="1664208"/>
          </a:xfrm>
          <a:prstGeom prst="roundRect">
            <a:avLst>
              <a:gd name="adj" fmla="val 439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1" name="Shape 23"/>
          <p:cNvSpPr/>
          <p:nvPr/>
        </p:nvSpPr>
        <p:spPr>
          <a:xfrm>
            <a:off x="8263128" y="3364992"/>
            <a:ext cx="384048" cy="384048"/>
          </a:xfrm>
          <a:prstGeom prst="ellipse">
            <a:avLst/>
          </a:prstGeom>
          <a:solidFill>
            <a:srgbClr val="69103F"/>
          </a:solidFill>
          <a:ln/>
        </p:spPr>
      </p:sp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45424" y="3447288"/>
            <a:ext cx="219456" cy="219456"/>
          </a:xfrm>
          <a:prstGeom prst="rect">
            <a:avLst/>
          </a:prstGeom>
        </p:spPr>
      </p:pic>
      <p:sp>
        <p:nvSpPr>
          <p:cNvPr id="33" name="Text 24"/>
          <p:cNvSpPr/>
          <p:nvPr/>
        </p:nvSpPr>
        <p:spPr>
          <a:xfrm>
            <a:off x="8738616" y="3364992"/>
            <a:ext cx="27645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· Manutenção e ativação</a:t>
            </a:r>
            <a:endParaRPr lang="en-US" sz="1400" dirty="0"/>
          </a:p>
        </p:txBody>
      </p:sp>
      <p:sp>
        <p:nvSpPr>
          <p:cNvPr id="34" name="Text 25"/>
          <p:cNvSpPr/>
          <p:nvPr/>
        </p:nvSpPr>
        <p:spPr>
          <a:xfrm>
            <a:off x="8263128" y="3822192"/>
            <a:ext cx="324002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Atualização a cada norma nova, simulado periódico e ativação do war room quando o evento ocorre</a:t>
            </a:r>
            <a:endParaRPr lang="en-US" sz="1100" dirty="0"/>
          </a:p>
        </p:txBody>
      </p:sp>
      <p:sp>
        <p:nvSpPr>
          <p:cNvPr id="35" name="Shape 26"/>
          <p:cNvSpPr/>
          <p:nvPr/>
        </p:nvSpPr>
        <p:spPr>
          <a:xfrm>
            <a:off x="502920" y="516636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6" name="Text 27"/>
          <p:cNvSpPr/>
          <p:nvPr/>
        </p:nvSpPr>
        <p:spPr>
          <a:xfrm>
            <a:off x="777240" y="5239512"/>
            <a:ext cx="106070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war room não é o produto.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cláusula de ativação do plano. Plano é ativo e entra em orçamento; war room isolado é hipótese e disputa verba com o improvável.</a:t>
            </a:r>
            <a:endParaRPr lang="en-US" sz="1400" dirty="0"/>
          </a:p>
        </p:txBody>
      </p:sp>
      <p:sp>
        <p:nvSpPr>
          <p:cNvPr id="37" name="Text 28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diagnóstico: oito perguntas objetivas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as perguntas que a sua operação precisa responder. A resposta que não vem acompanhada de evidência é, por definição, a lacuna.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9224" y="148132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923544" y="1481328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de pagamentos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49224" y="1847088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 aprova o quê, com que alçada e que trava?"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344418" y="1371600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490722" y="148132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3765042" y="1481328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Determinações judiciais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3490722" y="1847088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 recebe a ordem, quem cumpre e onde está a prova?"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85916" y="1371600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332220" y="148132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6606540" y="1481328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e KYC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6332220" y="1847088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"Como se verifica quem abre a conta — e quando se recusa?"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027414" y="1371600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9173718" y="1481328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448038" y="1481328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Detecção e acionamento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9173718" y="1847088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"Às 3h de domingo, quem forma a fundada suspeita?"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2944368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649224" y="30540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923544" y="3054096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Fornecedores e PSTI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649224" y="3419856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"Quem, fora de casa, tem a chave da sua casa?"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3344418" y="2944368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3490722" y="30540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765042" y="3054096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Incidente e dados pessoais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3490722" y="3419856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"Que horas você soube — e onde isso está escrito?"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185916" y="2944368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332220" y="30540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31" name="Text 28"/>
          <p:cNvSpPr/>
          <p:nvPr/>
        </p:nvSpPr>
        <p:spPr>
          <a:xfrm>
            <a:off x="6606540" y="3054096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e cadeia de custódia</a:t>
            </a:r>
            <a:endParaRPr lang="en-US" sz="1200" dirty="0"/>
          </a:p>
        </p:txBody>
      </p:sp>
      <p:sp>
        <p:nvSpPr>
          <p:cNvPr id="32" name="Text 29"/>
          <p:cNvSpPr/>
          <p:nvPr/>
        </p:nvSpPr>
        <p:spPr>
          <a:xfrm>
            <a:off x="6332220" y="3419856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"O que você preserva antes de corrigir?"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9027414" y="2944368"/>
            <a:ext cx="2658618" cy="1417320"/>
          </a:xfrm>
          <a:prstGeom prst="roundRect">
            <a:avLst>
              <a:gd name="adj" fmla="val 5161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4" name="Text 31"/>
          <p:cNvSpPr/>
          <p:nvPr/>
        </p:nvSpPr>
        <p:spPr>
          <a:xfrm>
            <a:off x="9173718" y="3054096"/>
            <a:ext cx="3108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9448038" y="3054096"/>
            <a:ext cx="20916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de crise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9173718" y="3419856"/>
            <a:ext cx="236601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"Qual é o seu critério escrito do que é crise?"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502920" y="466344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38" name="Text 35"/>
          <p:cNvSpPr/>
          <p:nvPr/>
        </p:nvSpPr>
        <p:spPr>
          <a:xfrm>
            <a:off x="777240" y="4736592"/>
            <a:ext cx="106070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eixo vira item do plano: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precisa existir, quem é o dono, em quanto tempo e qual evidência prova que está funcionando.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502920" y="5760720"/>
            <a:ext cx="111831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Fundamentos: Res. BCB 85/2021 e 538/2025 · Res. BCB 142/2021 · Res. BCB 493/2025 e 506/2025 · Res. BCB 343/2023 e Res. Conj. 6/2023 · Res. BCB 494 a 498/2025 · Res. CD/ANPD 15/2024 — todos verificados em fonte primária.</a:t>
            </a:r>
            <a:endParaRPr lang="en-US" sz="1050" dirty="0"/>
          </a:p>
        </p:txBody>
      </p:sp>
      <p:sp>
        <p:nvSpPr>
          <p:cNvPr id="40" name="Text 37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tipo de fintech tem um plano diferente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Credenciadora não sofre golpe de conta transacional. SCD não opera MED. Dizer o que não se aplica é parte do valor.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85800" y="1463040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conta transacional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Detecção e acionamento: é onde nascem as condenações por falha autônoma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185916" y="1371600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6368796" y="1463040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credenciadora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Cadeia contratual: quem responde pelo quê entre credenciadora, subadquirente e lojista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02920" y="2404872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685800" y="2496312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IP · pré-pago e moeda eletrônica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e jornada de contratação: o portfólio muda com frequência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185916" y="2404872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368796" y="2496312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SCD · crédito próprio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Prova da contratação: quem tem trilha de aceite íntegra ganha; quem não tem, paga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920" y="3438144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685800" y="3529584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 · empréstimo entre pessoas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Fronteira de responsabilidade: o contrato precisa dizer o que a plataforma não faz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6185916" y="3438144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368796" y="3529584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BaaS, infraestrutura e PSTI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Dois lados: defender-se do regresso das contratantes e provar diligência ao regulador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4471416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85800" y="4562856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Embedded finance e marketplace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Perímetro regulatório: o produto exige autorização própria? Depois, a cadeia contratual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185916" y="4471416"/>
            <a:ext cx="5500116" cy="914400"/>
          </a:xfrm>
          <a:prstGeom prst="roundRect">
            <a:avLst>
              <a:gd name="adj" fmla="val 8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6368796" y="4562856"/>
            <a:ext cx="513435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VASP · ativos virtuais
</a:t>
            </a:r>
            <a:pPr indent="0" marL="0">
              <a:buNone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de 30/10/2026 para o compartilhamento de indícios e resposta a ordem judicial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5577840"/>
            <a:ext cx="11183112" cy="822960"/>
          </a:xfrm>
          <a:prstGeom prst="roundRect">
            <a:avLst>
              <a:gd name="adj" fmla="val 8889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777240" y="5650992"/>
            <a:ext cx="1060704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Oito tipos, cada um com o seu pacote.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cada tipo: os cenários da matriz que se aplicam, os que expressamente não se aplicam, os GAPs prioritários e a estratégia macro.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Deu o cenário X: as medidas A, B e C nos prazos Y e Z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Exemplo — golpe de engenharia social contra o cliente, você na posição de PSP do pagador.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2658618" cy="3703320"/>
          </a:xfrm>
          <a:prstGeom prst="roundRect">
            <a:avLst>
              <a:gd name="adj" fmla="val 2752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649224" y="1481328"/>
            <a:ext cx="2366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 · 0 a 6 horas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9224" y="2011680"/>
            <a:ext cx="236601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a hora da reclamação e a formação da fundada suspeita (art. 78-N)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Instaurar a recuperação de valores, sem aguardar validação jurídica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Marcar fraude no DICT e rejeitar transações do usuário marcado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Preservar telemetria, geolocalização e sinais do motor antifraude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344418" y="1371600"/>
            <a:ext cx="2658618" cy="3703320"/>
          </a:xfrm>
          <a:prstGeom prst="roundRect">
            <a:avLst>
              <a:gd name="adj" fmla="val 2752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3490722" y="1481328"/>
            <a:ext cx="2366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 · 24 a 72 horas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3490722" y="2011680"/>
            <a:ext cx="236601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o indício no compartilhamento — 24h (Res. BCB 343/2023)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Avaliar afetação de dados e abrir o registro — 3 dias úteis (ANPD 15/2024)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Acompanhar o relógio: análise em 7 dias, devolução iniciada em 72h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Orientar sobre o BO, sem condicionar o acionamento a ele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185916" y="1371600"/>
            <a:ext cx="2658618" cy="3703320"/>
          </a:xfrm>
          <a:prstGeom prst="roundRect">
            <a:avLst>
              <a:gd name="adj" fmla="val 2752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6332220" y="1481328"/>
            <a:ext cx="2366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MÉDIO · D+3 a D+30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6332220" y="2011680"/>
            <a:ext cx="236601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Consolidar o dossiê probatório: horários, bloqueios, laudo de dispositivo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acordo ou defesa conforme exista ou não falha autônoma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Contestação padrão instruída com a trilha (CDC, art. 14, §3º, II)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9027414" y="1371600"/>
            <a:ext cx="2658618" cy="3703320"/>
          </a:xfrm>
          <a:prstGeom prst="roundRect">
            <a:avLst>
              <a:gd name="adj" fmla="val 2752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9173718" y="1481328"/>
            <a:ext cx="236601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LONGO · a partir de 30 dias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173718" y="2011680"/>
            <a:ext cx="236601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Corrigir a lacuna que deixou a transação atípica passar</a:t>
            </a:r>
            <a:endParaRPr lang="en-US" sz="10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0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Incorporar o caso ao simulado e ao plano (Res. 85/2021, art. 10)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502920" y="5257800"/>
            <a:ext cx="11183112" cy="960120"/>
          </a:xfrm>
          <a:prstGeom prst="roundRect">
            <a:avLst>
              <a:gd name="adj" fmla="val 7619"/>
            </a:avLst>
          </a:prstGeom>
          <a:solidFill>
            <a:srgbClr val="F4EAF0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777240" y="5330952"/>
            <a:ext cx="10607040" cy="8138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cenários mapeados: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engenharia social · conta usada por fraudador · credencial de fornecedor · vazamento · fraude interna · determinações judiciais · onda consumerista · fraude no onboarding · crédito em nome de terceiro · chargeback e recebível · perímetro regulatório · recursos de origem fraudulenta em ativos virtuais. Cada medida ancorada em norma verificada na fonte primária.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você contrata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96012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níveis. Escopo definido, sem sobreposição.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371600"/>
            <a:ext cx="3605784" cy="3611880"/>
          </a:xfrm>
          <a:prstGeom prst="roundRect">
            <a:avLst>
              <a:gd name="adj" fmla="val 253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04088" y="1572768"/>
            <a:ext cx="3203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ESSENCIAL · o plano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704088" y="2103120"/>
            <a:ext cx="32034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e diagnóstico dos oito eixos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cenários aplicáveis ao seu tipo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 de contingência escrito, pronto para aprovação da diretoria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prazos regulatórios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por horizonte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" y="4434840"/>
            <a:ext cx="3203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Projeto, entrega única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4291584" y="1371600"/>
            <a:ext cx="3605784" cy="3611880"/>
          </a:xfrm>
          <a:prstGeom prst="roundRect">
            <a:avLst>
              <a:gd name="adj" fmla="val 2536"/>
            </a:avLst>
          </a:prstGeom>
          <a:solidFill>
            <a:srgbClr val="F4EAF0"/>
          </a:solidFill>
          <a:ln w="25400">
            <a:solidFill>
              <a:srgbClr val="69103F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492752" y="1572768"/>
            <a:ext cx="3203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· o plano vivo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4492752" y="2103120"/>
            <a:ext cx="32034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do Essencial, atualizado continuamente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Revisão a cada norma nova relevante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Plantão de acionamento com linha direta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Simulado de mesa anual com o seu time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de produto novo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Alerta de prazo das obrigações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492752" y="4434840"/>
            <a:ext cx="3203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i="1" dirty="0">
                <a:solidFill>
                  <a:srgbClr val="6E8A1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 — é o produto central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080248" y="1371600"/>
            <a:ext cx="3605784" cy="3611880"/>
          </a:xfrm>
          <a:prstGeom prst="roundRect">
            <a:avLst>
              <a:gd name="adj" fmla="val 2536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8281416" y="1572768"/>
            <a:ext cx="32034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INTEGRAL · plano, ativação e defesa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81416" y="2103120"/>
            <a:ext cx="320344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Tudo do Gestão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Ativação do war room sem custo de mobilização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Frentes perante BCB e ANPD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Medidas judiciais de urgência e recuperação de ativos</a:t>
            </a:r>
            <a:endParaRPr lang="en-US" sz="1100" dirty="0"/>
          </a:p>
          <a:p>
            <a:pPr marL="101600" indent="-1016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Defesa da massa consumerista decorrente do incidente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8281416" y="4434840"/>
            <a:ext cx="32034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Recorrente ampliado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5166360"/>
            <a:ext cx="5614416" cy="100584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5349240"/>
            <a:ext cx="256032" cy="25603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33272" y="5257800"/>
            <a:ext cx="49377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Consultoria de produto novo
</a:t>
            </a:r>
            <a:pPr indent="0" marL="0">
              <a:buNone/>
            </a:pPr>
            <a:r>
              <a:rPr lang="en-US" sz="105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do lançamento: perímetro regulatório, impacto pelo CDC, jornada de contratação, dados pessoais e contingência embutida. Parecer com semáforo por item.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6245352" y="5166360"/>
            <a:ext cx="5440680" cy="1005840"/>
          </a:xfrm>
          <a:prstGeom prst="roundRect">
            <a:avLst>
              <a:gd name="adj" fmla="val 7273"/>
            </a:avLst>
          </a:prstGeom>
          <a:solidFill>
            <a:srgbClr val="69103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21" name="Text 17"/>
          <p:cNvSpPr/>
          <p:nvPr/>
        </p:nvSpPr>
        <p:spPr>
          <a:xfrm>
            <a:off x="6455664" y="5257800"/>
            <a:ext cx="50292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uma banca, e não uma consultoria?
</a:t>
            </a:r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Porque o plano é desenhado por quem vai defender você depois — e, se o evento ocorrer, quem desenhou executa.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64240" y="256032"/>
            <a:ext cx="758952" cy="49377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6576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69103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Queremos a sua leitura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502920" y="1051560"/>
            <a:ext cx="1118311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conversa não é uma venda — é a validação do desenho do produto com quem sente o problema.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02920" y="160020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731520" y="166420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tem hoje um plano de resposta a incidentes aprovado pela diretoria, com diretor responsável nomeado e revisão anual documentada?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246888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731520" y="253288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oito eixos, qual você sabe que está descoberto — e há quanto tempo sabe?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02920" y="333756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731520" y="340156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 sua operação controla o cumprimento de determinações judiciais, e onde está a prova de que cumpriu no prazo?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02920" y="4206240"/>
            <a:ext cx="11183112" cy="731520"/>
          </a:xfrm>
          <a:prstGeom prst="roundRect">
            <a:avLst>
              <a:gd name="adj" fmla="val 10000"/>
            </a:avLst>
          </a:prstGeom>
          <a:solidFill>
            <a:srgbClr val="F5F5F7"/>
          </a:solidFill>
          <a:ln w="12700">
            <a:solidFill>
              <a:srgbClr val="E3E4E8"/>
            </a:solidFill>
            <a:prstDash val="solid"/>
          </a:ln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731520" y="4270248"/>
            <a:ext cx="10698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 </a:t>
            </a:r>
            <a:pPr indent="0" marL="0">
              <a:buNone/>
            </a:pPr>
            <a:r>
              <a:rPr lang="en-US" sz="1400" dirty="0">
                <a:solidFill>
                  <a:srgbClr val="3337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plano vivo, com atualização e simulado, faz sentido como produto central — ou você contrataria apenas o projeto pontual?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02920" y="525780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69103F"/>
          </a:solidFill>
          <a:ln/>
          <a:effectLst>
            <a:outerShdw sx="100000" sy="100000" kx="0" ky="0" algn="bl" rotWithShape="0" blurRad="88900" dist="25400" dir="27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731520" y="5349240"/>
            <a:ext cx="10698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D3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Conheça a base técnica por trás do método:  </a:t>
            </a:r>
            <a:pPr indent="0" marL="0">
              <a:buNone/>
            </a:pPr>
            <a:r>
              <a:rPr lang="en-US" sz="1400" b="1" dirty="0">
                <a:solidFill>
                  <a:srgbClr val="9EC41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rivellione.github.io/rastro-vitrine-x9k4</a:t>
            </a:r>
            <a:pPr indent="0" marL="0">
              <a:buNone/>
            </a:pPr>
            <a:r>
              <a:rPr lang="en-US" sz="1100" dirty="0">
                <a:solidFill>
                  <a:srgbClr val="C9A5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(normas verificadas na fonte primária, prazos consolidados, matriz de incidentes)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502920" y="6583680"/>
            <a:ext cx="11183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68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LBCA · Lee, Brock, Camargo Advogados — Material técnico-informativo (Prov. OAB 205/2021) · Apresentação para validação de conceito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Plano de Contingência — fraude e incidentes em fintechs</dc:title>
  <dc:subject>PptxGenJS Presentation</dc:subject>
  <dc:creator>Fabio Rivelli — LBCA</dc:creator>
  <cp:lastModifiedBy>Fabio Rivelli — LBCA</cp:lastModifiedBy>
  <cp:revision>1</cp:revision>
  <dcterms:created xsi:type="dcterms:W3CDTF">2026-07-30T18:56:57Z</dcterms:created>
  <dcterms:modified xsi:type="dcterms:W3CDTF">2026-07-30T18:56:57Z</dcterms:modified>
</cp:coreProperties>
</file>